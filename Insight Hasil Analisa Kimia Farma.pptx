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70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F1A3D">
              <a:alpha val="6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731520"/>
            <a:ext cx="2286000" cy="2286000"/>
          </a:xfrm>
          <a:prstGeom prst="ellipse">
            <a:avLst/>
          </a:prstGeom>
          <a:solidFill>
            <a:srgbClr val="0F1A3D">
              <a:alpha val="40000"/>
            </a:srgbClr>
          </a:solidFill>
          <a:ln w="6350">
            <a:solidFill>
              <a:srgbClr val="F0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6519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i-FI" sz="36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</a:t>
            </a:r>
            <a:r>
              <a:rPr lang="fi-FI" sz="3600" b="1" kern="0" spc="100" dirty="0" err="1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fi-FI" sz="36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i-FI" sz="2400" b="1" kern="0" spc="100" dirty="0" err="1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</a:t>
            </a:r>
            <a:r>
              <a:rPr lang="fi-FI" sz="24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i-FI" sz="2400" b="1" kern="0" spc="100" dirty="0" err="1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</a:t>
            </a:r>
            <a:r>
              <a:rPr lang="fi-FI" sz="24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i-FI" sz="2400" b="1" kern="0" spc="100" dirty="0" err="1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</a:t>
            </a:r>
            <a:r>
              <a:rPr lang="fi-FI" sz="24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i-FI" sz="2400" b="1" kern="0" spc="100" dirty="0" err="1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</a:t>
            </a:r>
            <a:r>
              <a:rPr lang="fi-FI" sz="24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i-FI" sz="2400" b="1" kern="0" spc="100" dirty="0" err="1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</a:t>
            </a:r>
            <a:r>
              <a:rPr lang="fi-FI" sz="24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2020-2023 </a:t>
            </a:r>
            <a:endParaRPr lang="en-US" sz="3600" b="1" kern="0" spc="100" dirty="0">
              <a:solidFill>
                <a:srgbClr val="F0C8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894275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Zainur Rahman Afandi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 |  PERFORMANCE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90"/>
    </mc:Choice>
    <mc:Fallback>
      <p:transition spd="slow" advTm="380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|  Ringkasan Eksekutif — Key Performance Indicators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performa Kimia Farma 2020–2023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91,2 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(Rp)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51560"/>
            <a:ext cx="1920240" cy="5486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321,2 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231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(Rp)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051560"/>
            <a:ext cx="19202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/ 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805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Rating Cabang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105156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672.5 rb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379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Transaksi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8229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4231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42316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Rata-Rata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2816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30352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revenue (2020-2023)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" y="3639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konsisten ~22-25% tiap tahun.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terobosan efisiensi operasional signifikan.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24231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2423160"/>
            <a:ext cx="64008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Kritis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70832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6991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4947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yang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relatif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(2020-2023)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3119804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31106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26866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Ketergantungan ekstrem pada Jawa Barat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35312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5221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30832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rating cabang vs transaksi di luar Jawa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17720" y="394276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9336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46904" y="39153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cabang-cabang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potensial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2844"/>
    </mc:Choice>
    <mc:Fallback>
      <p:transition spd="slow" advTm="1428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Tren Pendapatan Tahunan (2020–2023)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fluktuasi revenue dan pola pertumbuhan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66360" y="105156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30368" y="11247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0368" y="1106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59552" y="11064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 2022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59552" y="13075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tertinggi ~80,6 M. Recovery kuat setelah penurunan 2021.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66360" y="176479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30368" y="183794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30368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59552" y="18196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di 2023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59552" y="202082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turun setelah puncak — pola V-shape yang perlu diwaspadai.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166360" y="2478024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30368" y="255117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0368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59552" y="2532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Fluktuasi</a:t>
            </a: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Relatif</a:t>
            </a: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Stabil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59552" y="273405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80 M – 80,6 M dalam 4 tahun menunjukkan pertumbuhan stagnan.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66360" y="319125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230368" y="32644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0368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59552" y="3246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59552" y="34472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root cause 2023. Stabilkan di atas 80,5 M sebagai baseline.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022C789-E1F1-C0FD-288C-F82F74AEF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478073"/>
            <a:ext cx="4777931" cy="21873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3623"/>
    </mc:Choice>
    <mc:Fallback>
      <p:transition spd="slow" advTm="11362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|  Pendapatan vs Profit Per Tahun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margin dan gap efisiensi operasional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0" y="1051560"/>
            <a:ext cx="3383280" cy="109728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Rata-Rata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303520" y="2286000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28600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9824" y="232257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~57 M per tahun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49824" y="25237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 COGS + OPEX. Bila revenue stagnan, profit sangat bergantung efisiensi biaya.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03520" y="2852928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852928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9824" y="28895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tidak tumbuh lebih cepat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9824" y="30906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tahun di mana profit tumbuh melampaui revenue — belum ada terobosan efisiensi.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303520" y="3419856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419856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9824" y="3456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Stabil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49824" y="36576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margin menunjukkan pengendalian biaya yang baik, namun potensi optimasi masih ada.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303520" y="3986784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03520" y="3986784"/>
            <a:ext cx="5486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40233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49824" y="422452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Negosiasi ulang rantai pasokan. Fokus product mix ke Psycholeptics &amp; Hypnotics (margin tertinggi).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3A3F27D-6CBC-570D-3511-98F0F7D13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31620"/>
            <a:ext cx="4813646" cy="22037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935"/>
    </mc:Choice>
    <mc:Fallback>
      <p:transition spd="slow" advTm="1379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|  Top 10 Transaksi &amp; Penjualan Bersih per Provinsi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dominasi geografis dan ketimpangan regional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83480" y="105156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47488" y="116128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47488" y="1143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1247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Dominasi Ekstrem Jawa Barat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94960" y="13258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198.723 transaksi vs #2 Sumatera Utara (46.494). Hampir 4× lipat — risiko konsentrasi sangat tinggi.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83480" y="182880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47488" y="193852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4748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Ketergantungan Pulau Jawa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94960" y="21031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Jabar + Jateng + Jatim = mayoritas top 10. Gangguan lokal bisa berdampak nasional.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983480" y="260604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47488" y="27157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47488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26791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Positif Luar Jawa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94960" y="28803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Sulawesi Utara &amp; Sumbar masuk top 10 — pasar luar Jawa mulai berkembang.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983480" y="338328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47488" y="34930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47488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94960" y="34564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Peluang: Riau &amp; Kaltim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94960" y="36576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provinsi ekonomi terkuat di luar Jawa masih sangat underperform. Potensi besar.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6D58830-E7C0-AE04-E77A-CE89AD317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94683"/>
            <a:ext cx="3960537" cy="178626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C8F78FA-26F6-84E4-19E6-E034903AD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044952"/>
            <a:ext cx="3960537" cy="17397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783"/>
    </mc:Choice>
    <mc:Fallback>
      <p:transition spd="slow" advTm="6678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|  Top 10 Produk Teratas — Laba Bersih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kategori produk bermargin tertinggi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0" y="1051560"/>
            <a:ext cx="338328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Bintang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Psycholeptics &amp; Hypnotics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dari total top 10 profit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0" y="2194560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2194560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9824" y="22402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Dominasi Psycholeptics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49824" y="24323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posisi teratas dengan 15,4 M dan 15,1 M — kategori paling menguntungkan.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03520" y="2779776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3520" y="2779776"/>
            <a:ext cx="54864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9824" y="282549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Anti-inflammatory Lemah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9824" y="3017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bawah (6,9–8,1 M) meski pasar besar. Kemungkinan margin rendah akibat generik.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03520" y="3364992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03520" y="3364992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9824" y="34107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Tetap Kuat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49824" y="36027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Analgesics &amp; Antihistamines masuk top 5 — tulang punggung ritel apotek.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303520" y="3950208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03520" y="3950208"/>
            <a:ext cx="54864" cy="51206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9824" y="399592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49824" y="41879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stok Psycholeptics di semua cabang. Evaluasi repricing anti-inflammatory.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B2539C5-95FE-E171-27F3-331F643A5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9235"/>
            <a:ext cx="4597437" cy="25564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409"/>
    </mc:Choice>
    <mc:Fallback>
      <p:transition spd="slow" advTm="6140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|  Distribusi Branch Berdasarkan Transaksi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format cabang dan potensi upgrade layanan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01184" y="11612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Hampir Sempurna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01184" y="137160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33,9% | 33,1% | 33,0% — ketiga format diminati setara. Portofolio layanan sehat.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84708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847088"/>
            <a:ext cx="5486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1184" y="19110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Lengkap Paling Mahal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01184" y="21214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Klinik-Apotek-Lab (33%) dengan biaya operasional tertinggi namun CLV lebih besar.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259689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596896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01184" y="2660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Kritis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01184" y="287121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profit per transaksi berbeda signifikan antar format? Belum terlihat di data.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54880" y="3346704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3346704"/>
            <a:ext cx="54864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01184" y="341071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01184" y="3621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profitabilitas per tipe branch. Bila Klinik-Lab lebih profitable, upgrade apotek ke hybrid.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138194-5BB8-9E01-F32B-CDAC3A925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8" y="1552003"/>
            <a:ext cx="4000344" cy="22244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976"/>
    </mc:Choice>
    <mc:Fallback>
      <p:transition spd="slow" advTm="6497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|  Top 5 Cabang: Rating Cabang vs Rating Transaksi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kritis — mismatch persepsi fasilitas vs pengalaman bertransaksi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321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3200400"/>
            <a:ext cx="402336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Anomali Kritis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fasilitas 5/5 namun rating transaksi hanya 3,99–4,0.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cabang berada di luar Jawa — ada masalah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di tingkat pelayanan, bukan infrastruktur.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3200400"/>
            <a:ext cx="406908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916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Rekomendasi Aksi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shopper audit di 5 cabang ini.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proses POS, waktu tunggu, stok produk.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adalah quick win yang bisa langsung dieksekusi.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F6481C-889B-8173-D997-C3A2C6BB33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465"/>
          <a:stretch>
            <a:fillRect/>
          </a:stretch>
        </p:blipFill>
        <p:spPr>
          <a:xfrm>
            <a:off x="457200" y="1329197"/>
            <a:ext cx="8183880" cy="1168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421"/>
    </mc:Choice>
    <mc:Fallback>
      <p:transition spd="slow" advTm="6842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Rekomendasi Strategis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2020–2023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2801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Geografis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1554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Kaltim, Sulsel, Sumsel. Jabar sebagai model replikasi.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3172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Product Mix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distribusi Psycholeptics &amp; Hypnotics ke semua cabang luar Jawa.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38328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383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Cabang Anomali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8992" y="3657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shopper di 5 cabang rating-gap. Perbaiki proses POS &amp; stok.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28016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68112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Biaya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68112" y="1554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Negosiasi ulang rantai pasokan. Target margin &gt;27% secara konsisten.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2331720"/>
            <a:ext cx="457200" cy="457200"/>
          </a:xfrm>
          <a:prstGeom prst="ellipse">
            <a:avLst/>
          </a:prstGeom>
          <a:solidFill>
            <a:srgbClr val="F0C842"/>
          </a:solidFill>
          <a:ln w="12700">
            <a:solidFill>
              <a:srgbClr val="F0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Format Branch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68112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profitabilitas per tipe. Pertimbangkan upgrade Apotek ke hybrid.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29184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383280"/>
            <a:ext cx="457200" cy="45720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3383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Stabilkan Revenue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68112" y="3657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Targetkan baseline &gt;80,5 M. Investigasi root cause penurunan 2023.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673"/>
    </mc:Choice>
    <mc:Fallback>
      <p:transition spd="slow" advTm="6067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799</Words>
  <Application>Microsoft Office PowerPoint</Application>
  <PresentationFormat>On-screen Show (16:9)</PresentationFormat>
  <Paragraphs>136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Kimia Farma Performance Analytics - Insights</dc:title>
  <dc:subject>PptxGenJS Presentation</dc:subject>
  <dc:creator>PptxGenJS</dc:creator>
  <cp:lastModifiedBy>mohammad zainur</cp:lastModifiedBy>
  <cp:revision>3</cp:revision>
  <dcterms:created xsi:type="dcterms:W3CDTF">2026-04-10T09:52:58Z</dcterms:created>
  <dcterms:modified xsi:type="dcterms:W3CDTF">2026-04-10T15:34:33Z</dcterms:modified>
</cp:coreProperties>
</file>