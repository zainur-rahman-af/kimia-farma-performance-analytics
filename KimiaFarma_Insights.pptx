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Nett Sales (M)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5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80.400000000000006</c:v>
                </c:pt>
                <c:pt idx="1">
                  <c:v>80</c:v>
                </c:pt>
                <c:pt idx="2">
                  <c:v>80.599999999999994</c:v>
                </c:pt>
                <c:pt idx="3">
                  <c:v>80.099999999999994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0B1-477A-8B79-85827253C4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.8"/>
          <c:min val="79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Nett Sales (M)</c:v>
                </c:pt>
              </c:strCache>
            </c:strRef>
          </c:tx>
          <c:spPr>
            <a:solidFill>
              <a:srgbClr val="1A2B5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80.400000000000006</c:v>
                </c:pt>
                <c:pt idx="1">
                  <c:v>80</c:v>
                </c:pt>
                <c:pt idx="2">
                  <c:v>80.599999999999994</c:v>
                </c:pt>
                <c:pt idx="3">
                  <c:v>80.099999999999994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F9-4C5C-BB9A-C670E16778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Nett Profit (M)</c:v>
                </c:pt>
              </c:strCache>
            </c:strRef>
          </c:tx>
          <c:spPr>
            <a:solidFill>
              <a:srgbClr val="F0C84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18.5</c:v>
                </c:pt>
                <c:pt idx="1">
                  <c:v>19</c:v>
                </c:pt>
                <c:pt idx="2">
                  <c:v>18.2</c:v>
                </c:pt>
                <c:pt idx="3">
                  <c:v>17.8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F9-4C5C-BB9A-C670E16778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Transaksi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Jawa Barat</c:v>
                </c:pt>
                <c:pt idx="1">
                  <c:v>Sumatera Utara</c:v>
                </c:pt>
                <c:pt idx="2">
                  <c:v>Jawa Tengah</c:v>
                </c:pt>
                <c:pt idx="3">
                  <c:v>Jawa Timur</c:v>
                </c:pt>
                <c:pt idx="4">
                  <c:v>Sulawesi Utara</c:v>
                </c:pt>
                <c:pt idx="5">
                  <c:v>Sumatera Barat</c:v>
                </c:pt>
                <c:pt idx="6">
                  <c:v>Aceh</c:v>
                </c:pt>
                <c:pt idx="7">
                  <c:v>NTB</c:v>
                </c:pt>
                <c:pt idx="8">
                  <c:v>Kalimantan Timur</c:v>
                </c:pt>
                <c:pt idx="9">
                  <c:v>Riau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198723</c:v>
                </c:pt>
                <c:pt idx="1">
                  <c:v>46494</c:v>
                </c:pt>
                <c:pt idx="2">
                  <c:v>34766</c:v>
                </c:pt>
                <c:pt idx="3">
                  <c:v>33339</c:v>
                </c:pt>
                <c:pt idx="4">
                  <c:v>32014</c:v>
                </c:pt>
                <c:pt idx="5">
                  <c:v>21825</c:v>
                </c:pt>
                <c:pt idx="6">
                  <c:v>21069</c:v>
                </c:pt>
                <c:pt idx="7">
                  <c:v>20243</c:v>
                </c:pt>
                <c:pt idx="8">
                  <c:v>19607</c:v>
                </c:pt>
                <c:pt idx="9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0C-41F5-B064-7D33C151F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Laba Bersih (M)</c:v>
                </c:pt>
              </c:strCache>
            </c:strRef>
          </c:tx>
          <c:spPr>
            <a:solidFill>
              <a:srgbClr val="1A2B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511-4A30-8F93-E62E8952C2ED}"/>
              </c:ext>
            </c:extLst>
          </c:dPt>
          <c:dPt>
            <c:idx val="1"/>
            <c:invertIfNegative val="0"/>
            <c:bubble3D val="0"/>
            <c:spPr>
              <a:solidFill>
                <a:srgbClr val="1D33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11-4A30-8F93-E62E8952C2ED}"/>
              </c:ext>
            </c:extLst>
          </c:dPt>
          <c:dPt>
            <c:idx val="2"/>
            <c:invertIfNegative val="0"/>
            <c:bubble3D val="0"/>
            <c:spPr>
              <a:solidFill>
                <a:srgbClr val="205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11-4A30-8F93-E62E8952C2ED}"/>
              </c:ext>
            </c:extLst>
          </c:dPt>
          <c:dPt>
            <c:idx val="3"/>
            <c:invertIfNegative val="0"/>
            <c:bubble3D val="0"/>
            <c:spPr>
              <a:solidFill>
                <a:srgbClr val="236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11-4A30-8F93-E62E8952C2ED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511-4A30-8F93-E62E8952C2ED}"/>
              </c:ext>
            </c:extLst>
          </c:dPt>
          <c:dPt>
            <c:idx val="5"/>
            <c:invertIfNegative val="0"/>
            <c:bubble3D val="0"/>
            <c:spPr>
              <a:solidFill>
                <a:srgbClr val="1FAD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511-4A30-8F93-E62E8952C2ED}"/>
              </c:ext>
            </c:extLst>
          </c:dPt>
          <c:dPt>
            <c:idx val="6"/>
            <c:invertIfNegative val="0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511-4A30-8F93-E62E8952C2ED}"/>
              </c:ext>
            </c:extLst>
          </c:dPt>
          <c:dPt>
            <c:idx val="7"/>
            <c:invertIfNegative val="0"/>
            <c:bubble3D val="0"/>
            <c:spPr>
              <a:solidFill>
                <a:srgbClr val="E8BC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511-4A30-8F93-E62E8952C2E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Psycholeptics Hypnotics</c:v>
                </c:pt>
                <c:pt idx="1">
                  <c:v>Psycholeptics Anxio</c:v>
                </c:pt>
                <c:pt idx="2">
                  <c:v>Other Analgesics</c:v>
                </c:pt>
                <c:pt idx="3">
                  <c:v>Drugs Obstructive</c:v>
                </c:pt>
                <c:pt idx="4">
                  <c:v>Antihistamines</c:v>
                </c:pt>
                <c:pt idx="5">
                  <c:v>Other Analgesics 2</c:v>
                </c:pt>
                <c:pt idx="6">
                  <c:v>Anti-inflammatory 1</c:v>
                </c:pt>
                <c:pt idx="7">
                  <c:v>Anti-inflammatory 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15.4</c:v>
                </c:pt>
                <c:pt idx="1">
                  <c:v>15.1</c:v>
                </c:pt>
                <c:pt idx="2">
                  <c:v>12.3</c:v>
                </c:pt>
                <c:pt idx="3">
                  <c:v>11.8</c:v>
                </c:pt>
                <c:pt idx="4">
                  <c:v>11.6</c:v>
                </c:pt>
                <c:pt idx="5">
                  <c:v>9.9</c:v>
                </c:pt>
                <c:pt idx="6">
                  <c:v>8.1</c:v>
                </c:pt>
                <c:pt idx="7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511-4A30-8F93-E62E8952C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Transaksi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B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9D-4B0E-B387-23990639B225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9D-4B0E-B387-23990639B225}"/>
              </c:ext>
            </c:extLst>
          </c:dPt>
          <c:dPt>
            <c:idx val="2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9D-4B0E-B387-23990639B22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9D-4B0E-B387-23990639B22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9D-4B0E-B387-23990639B22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9D-4B0E-B387-23990639B22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Kimia Farma - Apotek</c:v>
                </c:pt>
                <c:pt idx="1">
                  <c:v>Kimia Farma - Klinik &amp; Apotek</c:v>
                </c:pt>
                <c:pt idx="2">
                  <c:v>Kimia Farma - Klinik-Apotek-Lab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33.9</c:v>
                </c:pt>
                <c:pt idx="1">
                  <c:v>33.1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49D-4B0E-B387-23990639B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Estimasi (M)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50A-4939-B236-3FABF3B3702F}"/>
              </c:ext>
            </c:extLst>
          </c:dPt>
          <c:dPt>
            <c:idx val="1"/>
            <c:invertIfNegative val="0"/>
            <c:bubble3D val="0"/>
            <c:spPr>
              <a:solidFill>
                <a:srgbClr val="1FAD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50A-4939-B236-3FABF3B3702F}"/>
              </c:ext>
            </c:extLst>
          </c:dPt>
          <c:dPt>
            <c:idx val="2"/>
            <c:invertIfNegative val="0"/>
            <c:bubble3D val="0"/>
            <c:spPr>
              <a:solidFill>
                <a:srgbClr val="30C4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50A-4939-B236-3FABF3B3702F}"/>
              </c:ext>
            </c:extLst>
          </c:dPt>
          <c:dPt>
            <c:idx val="3"/>
            <c:invertIfNegative val="0"/>
            <c:bubble3D val="0"/>
            <c:spPr>
              <a:solidFill>
                <a:srgbClr val="43D4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50A-4939-B236-3FABF3B3702F}"/>
              </c:ext>
            </c:extLst>
          </c:dPt>
          <c:dPt>
            <c:idx val="4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50A-4939-B236-3FABF3B3702F}"/>
              </c:ext>
            </c:extLst>
          </c:dPt>
          <c:dPt>
            <c:idx val="5"/>
            <c:invertIfNegative val="0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50A-4939-B236-3FABF3B3702F}"/>
              </c:ext>
            </c:extLst>
          </c:dPt>
          <c:dPt>
            <c:idx val="6"/>
            <c:invertIfNegative val="0"/>
            <c:bubble3D val="0"/>
            <c:spPr>
              <a:solidFill>
                <a:srgbClr val="C6F7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50A-4939-B236-3FABF3B3702F}"/>
              </c:ext>
            </c:extLst>
          </c:dPt>
          <c:dPt>
            <c:idx val="7"/>
            <c:invertIfNegative val="0"/>
            <c:bubble3D val="0"/>
            <c:spPr>
              <a:solidFill>
                <a:srgbClr val="D1FA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50A-4939-B236-3FABF3B3702F}"/>
              </c:ext>
            </c:extLst>
          </c:dPt>
          <c:dPt>
            <c:idx val="8"/>
            <c:invertIfNegative val="0"/>
            <c:bubble3D val="0"/>
            <c:spPr>
              <a:solidFill>
                <a:srgbClr val="E6FF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50A-4939-B236-3FABF3B3702F}"/>
              </c:ext>
            </c:extLst>
          </c:dPt>
          <c:dPt>
            <c:idx val="9"/>
            <c:invertIfNegative val="0"/>
            <c:bubble3D val="0"/>
            <c:spPr>
              <a:solidFill>
                <a:srgbClr val="F0FF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50A-4939-B236-3FABF3B370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Jawa Barat</c:v>
                </c:pt>
                <c:pt idx="1">
                  <c:v>DKI Jakarta</c:v>
                </c:pt>
                <c:pt idx="2">
                  <c:v>Jawa Timur</c:v>
                </c:pt>
                <c:pt idx="3">
                  <c:v>Jawa Tengah</c:v>
                </c:pt>
                <c:pt idx="4">
                  <c:v>Sumatera Utara</c:v>
                </c:pt>
                <c:pt idx="5">
                  <c:v>Sulawesi Sel.</c:v>
                </c:pt>
                <c:pt idx="6">
                  <c:v>Sumatera Sel.</c:v>
                </c:pt>
                <c:pt idx="7">
                  <c:v>Kalimantan Tim.</c:v>
                </c:pt>
                <c:pt idx="8">
                  <c:v>Bali</c:v>
                </c:pt>
                <c:pt idx="9">
                  <c:v>Papua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26.9</c:v>
                </c:pt>
                <c:pt idx="1">
                  <c:v>14.2</c:v>
                </c:pt>
                <c:pt idx="2">
                  <c:v>10.8</c:v>
                </c:pt>
                <c:pt idx="3">
                  <c:v>8.5</c:v>
                </c:pt>
                <c:pt idx="4">
                  <c:v>6.1</c:v>
                </c:pt>
                <c:pt idx="5">
                  <c:v>3.2</c:v>
                </c:pt>
                <c:pt idx="6">
                  <c:v>2.8</c:v>
                </c:pt>
                <c:pt idx="7">
                  <c:v>1.9</c:v>
                </c:pt>
                <c:pt idx="8">
                  <c:v>1.4</c:v>
                </c:pt>
                <c:pt idx="9">
                  <c:v>0.57299999999999995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50A-4939-B236-3FABF3B370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70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F1A3D">
              <a:alpha val="6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731520"/>
            <a:ext cx="2286000" cy="2286000"/>
          </a:xfrm>
          <a:prstGeom prst="ellipse">
            <a:avLst/>
          </a:prstGeom>
          <a:solidFill>
            <a:srgbClr val="0F1A3D">
              <a:alpha val="40000"/>
            </a:srgbClr>
          </a:solidFill>
          <a:ln w="6350">
            <a:solidFill>
              <a:srgbClr val="F0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[JUDUL TUGAS]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&amp; KELAS]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[Tanggal / Institusi]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 |  PERFORMANCE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|  Ringkasan Eksekutif — Key Performance Indicators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performa Kimia Farma 2020–2023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5156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91,2 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(Rp)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51560"/>
            <a:ext cx="1920240" cy="5486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321,2 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231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(Rp)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051560"/>
            <a:ext cx="19202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/ 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805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Rating Cabang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105156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105156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672.5 rb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379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Transaksi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8229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4231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42316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Rata-Rata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2816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~28,4%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30352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revenue (2020-2023)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" y="3639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konsisten ~22-25% tiap tahun.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terobosan efisiensi operasional signifikan.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24231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0" y="2423160"/>
            <a:ext cx="64008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Kritis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70832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6991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46904" y="26808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sangat fluktuatif (2020-2023)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3119804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31106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46904" y="30923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Ketergantungan ekstrem pada Jawa Barat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353128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5221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46904" y="35038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rating cabang vs transaksi di luar Jawa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17720" y="394276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39336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46904" y="39153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ekspansi besar ke Indonesia Timur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Tren Pendapatan Tahunan (2020–2023)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fluktuasi revenue dan pola pertumbuhan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515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166360" y="105156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30368" y="11247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0368" y="1106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59552" y="11064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 2022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59552" y="13075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tertinggi ~80,6 M. Recovery kuat setelah penurunan 2021.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66360" y="176479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30368" y="1837944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30368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59552" y="18196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di 2023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59552" y="202082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turun setelah puncak — pola V-shape yang perlu diwaspadai.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166360" y="2478024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30368" y="255117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30368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59552" y="2532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Fluktuasi Tinggi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59552" y="273405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80 M – 80,6 M dalam 4 tahun menunjukkan pertumbuhan stagnan.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66360" y="319125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230368" y="32644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0368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59552" y="3246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59552" y="34472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root cause 2023. Stabilkan di atas 80,5 M sebagai baseline.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65760" y="3913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adalah titik terendah — dampak pandemi atau kompetisi?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|  Pendapatan vs Profit Per Tahun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margin dan gap efisiensi operasional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51560"/>
          <a:ext cx="47548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1051560"/>
            <a:ext cx="3383280" cy="109728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Rata-Rata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~22–25%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5303520" y="2286000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03520" y="2286000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9824" y="232257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~60–65 M per tahun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49824" y="252374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 COGS + OPEX. Bila revenue stagnan, profit sangat bergantung efisiensi biaya.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03520" y="2852928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852928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49824" y="28895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tidak tumbuh lebih cepat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9824" y="30906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tahun di mana profit tumbuh melampaui revenue — belum ada terobosan efisiensi.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303520" y="3419856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419856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9824" y="345643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Stabil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49824" y="365760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margin menunjukkan pengendalian biaya yang baik, namun potensi optimasi masih ada.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303520" y="3986784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303520" y="3986784"/>
            <a:ext cx="5486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9824" y="402336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49824" y="422452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Negosiasi ulang rantai pasokan. Fokus product mix ke Psycholeptics &amp; Hypnotics (margin tertinggi).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|  Top 10 Transaksi &amp; Penjualan Bersih per Provinsi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dominasi geografis dan ketimpangan regional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51560"/>
          <a:ext cx="43891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983480" y="105156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47488" y="116128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47488" y="1143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1247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Dominasi Ekstrem Jawa Barat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94960" y="13258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198.723 transaksi vs #2 Sumatera Utara (46.494). Hampir 4× lipat — risiko konsentrasi sangat tinggi.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83480" y="182880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47488" y="193852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4748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Ketergantungan Pulau Jawa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94960" y="210312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Jabar + Jateng + Jatim = mayoritas top 10. Gangguan lokal bisa berdampak nasional.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983480" y="260604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47488" y="27157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47488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267919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Positif Luar Jawa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94960" y="28803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Sulawesi Utara &amp; Sumbar masuk top 10 — pasar luar Jawa mulai berkembang.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983480" y="338328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047488" y="349300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47488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94960" y="34564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Peluang: Riau &amp; Kaltim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94960" y="365760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provinsi ekonomi terkuat di luar Jawa masih sangat underperform. Potensi besar.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|  Top 10 Produk Teratas — Laba Bersih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kategori produk bermargin tertinggi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51560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1051560"/>
            <a:ext cx="338328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Bintang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Psycholeptics &amp; Hypnotics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dari total top 10 profit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0" y="2194560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2194560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9824" y="22402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Dominasi Psycholeptics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49824" y="24323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posisi teratas dengan 15,4 M dan 15,1 M — kategori paling menguntungkan.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03520" y="2779776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3520" y="2779776"/>
            <a:ext cx="54864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9824" y="282549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Anti-inflammatory Lemah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9824" y="3017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bawah (6,9–8,1 M) meski pasar besar. Kemungkinan margin rendah akibat generik.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03520" y="3364992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03520" y="3364992"/>
            <a:ext cx="54864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9824" y="34107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Tetap Kuat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49824" y="36027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Analgesics &amp; Antihistamines masuk top 5 — tulang punggung ritel apotek.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303520" y="3950208"/>
            <a:ext cx="33832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03520" y="3950208"/>
            <a:ext cx="54864" cy="51206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9824" y="399592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49824" y="41879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stok Psycholeptics di semua cabang. Evaluasi repricing anti-inflammatory.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|  Distribusi Branch Berdasarkan Transaksi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format cabang dan potensi upgrade layanan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972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109728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01184" y="11612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Hampir Sempurna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901184" y="137160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33,9% | 33,1% | 33,0% — ketiga format diminati setara. Portofolio layanan sehat.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84708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847088"/>
            <a:ext cx="5486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1184" y="191109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Lengkap Paling Mahal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01184" y="21214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Klinik-Apotek-Lab (33%) dengan biaya operasional tertinggi namun CLV lebih besar.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259689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596896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01184" y="266090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Kritis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01184" y="287121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profit per transaksi berbeda signifikan antar format? Belum terlihat di data.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54880" y="3346704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3346704"/>
            <a:ext cx="54864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01184" y="341071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01184" y="362102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profitabilitas per tipe branch. Bila Klinik-Lab lebih profitable, upgrade apotek ke hybrid.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|  Top 5 Cabang: Rating Cabang vs Rating Transaksi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kritis — mismatch persepsi fasilitas vs pengalaman bertransaksi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32104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Provinsi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Cabang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Transaksi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- Klinik &amp; Apotek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- Apotek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Papua Barat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- Klinik &amp; Apotek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Bangka Belitung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- Klinik-Apotek-Lab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Nusa Tenggara Timur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 - Klinik-Apotek-Lab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Papua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365760" y="3108960"/>
            <a:ext cx="8321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3200400"/>
            <a:ext cx="402336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Anomali Kritis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fasilitas 5/5 namun rating transaksi hanya 3,99–4,0.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cabang berada di luar Jawa — ada masalah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di tingkat pelayanan, bukan infrastruktur.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3200400"/>
            <a:ext cx="406908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0916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Rekomendasi Aksi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shopper audit di 5 cabang ini.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proses POS, waktu tunggu, stok produk.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adalah quick win yang bisa langsung dieksekusi.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|  Peta Total Profit Per Provinsi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ketimpangan geografis dan peluang ekspansi nasional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19472"/>
            <a:ext cx="8915400" cy="22402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19472"/>
            <a:ext cx="8686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Data 2020–2023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051560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1051560"/>
            <a:ext cx="338328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94960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Ketimpangan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94960" y="1307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 : 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394960" y="1737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Provinsi terbaik vs terburuk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303520" y="2103120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210312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49824" y="214884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Ketimpangan Ekstrem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49824" y="23408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profit 572,9 jt – 26,9 M. Rasio 47:1 dalam satu portofolio adalah risiko serius.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03520" y="2679192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3520" y="267919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9824" y="272491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Kalimantan &amp; Sulawesi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9824" y="291693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ekonomi tertinggi nasional namun profit masih sangat rendah di peta.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03520" y="3255264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03520" y="3255264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9824" y="330098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IKN sebagai Katalis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49824" y="34930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Kalimantan Timur (Balikpapan-IKN) adalah target ekspansi paling strategis 2024–2026.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303520" y="3831336"/>
            <a:ext cx="3383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03520" y="3831336"/>
            <a:ext cx="54864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9824" y="387705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Ekspansi 3 Tahun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49824" y="40690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Prioritas: Kaltim, Sulawesi Selatan, Sumatera Selatan. Replikasi model sukses Jawa Barat.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Rekomendasi Strategis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Kimia Farma Performance Analytics  |  2020–2023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2801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Geografis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8992" y="1554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Kaltim, Sulsel, Sumsel. Jabar sebagai model replikasi.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3172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Product Mix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8992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distribusi Psycholeptics &amp; Hypnotics ke semua cabang luar Jawa.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38328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383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Cabang Anomali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8992" y="3657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shopper di 5 cabang rating-gap. Perbaiki proses POS &amp; stok.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28016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68112" y="12801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Biaya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68112" y="15544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Negosiasi ulang rantai pasokan. Target margin &gt;27% secara konsisten.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24028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2331720"/>
            <a:ext cx="457200" cy="457200"/>
          </a:xfrm>
          <a:prstGeom prst="ellipse">
            <a:avLst/>
          </a:prstGeom>
          <a:solidFill>
            <a:srgbClr val="F0C842"/>
          </a:solidFill>
          <a:ln w="12700">
            <a:solidFill>
              <a:srgbClr val="F0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23317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Format Branch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68112" y="2606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profitabilitas per tipe. Pertimbangkan upgrade Apotek ke hybrid.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291840"/>
            <a:ext cx="4160520" cy="914400"/>
          </a:xfrm>
          <a:prstGeom prst="rect">
            <a:avLst/>
          </a:prstGeom>
          <a:solidFill>
            <a:srgbClr val="1D3060"/>
          </a:solidFill>
          <a:ln w="12700">
            <a:solidFill>
              <a:srgbClr val="2D488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383280"/>
            <a:ext cx="457200" cy="45720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3383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Stabilkan Revenue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68112" y="3657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Targetkan baseline &gt;80,5 M. Investigasi root cause penurunan 2023.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970</Words>
  <Application>Microsoft Office PowerPoint</Application>
  <PresentationFormat>On-screen Show 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Kimia Farma Performance Analytics - Insights</dc:title>
  <dc:subject>PptxGenJS Presentation</dc:subject>
  <dc:creator>PptxGenJS</dc:creator>
  <cp:lastModifiedBy>mohammad zainur</cp:lastModifiedBy>
  <cp:revision>2</cp:revision>
  <dcterms:created xsi:type="dcterms:W3CDTF">2026-04-10T09:52:58Z</dcterms:created>
  <dcterms:modified xsi:type="dcterms:W3CDTF">2026-04-10T12:11:45Z</dcterms:modified>
</cp:coreProperties>
</file>